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embeddedFontLst>
    <p:embeddedFont>
      <p:font typeface="Calibri" panose="020F0502020204030204"/>
      <p:regular r:id="rId19"/>
      <p:bold r:id="rId20"/>
      <p:italic r:id="rId21"/>
      <p:boldItalic r:id="rId22"/>
    </p:embeddedFont>
    <p:embeddedFont>
      <p:font typeface="Urbanist" panose="020B0A04040200000203"/>
      <p:regular r:id="rId23"/>
      <p:italic r:id="rId24"/>
    </p:embeddedFont>
    <p:embeddedFont>
      <p:font typeface="Urbanist ExtraBold" panose="020B0A04040200000203"/>
      <p:bold r:id="rId25"/>
    </p:embeddedFont>
    <p:embeddedFont>
      <p:font typeface="Urbanist SemiBold" panose="020B0A04040200000203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A8F9B43-D4EA-4FC5-801A-416FB36D5DA7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" name="Google Shape;107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" name="Google Shape;121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2" name="Google Shape;132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" name="Google Shape;180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7" name="Google Shape;217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3" name="Google Shape;233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5" name="Google Shape;245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5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title="logo.png"/>
          <p:cNvPicPr preferRelativeResize="0"/>
          <p:nvPr/>
        </p:nvPicPr>
        <p:blipFill rotWithShape="1">
          <a:blip r:embed="rId2"/>
          <a:srcRect t="8644" b="8635"/>
          <a:stretch>
            <a:fillRect/>
          </a:stretch>
        </p:blipFill>
        <p:spPr>
          <a:xfrm>
            <a:off x="771525" y="871960"/>
            <a:ext cx="2740601" cy="20535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71525" y="3075979"/>
            <a:ext cx="11181397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1F5F9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FRONE AI</a:t>
            </a:r>
            <a:endParaRPr lang="en-US" sz="6000" b="1" i="0" u="none" strike="noStrike" cap="none">
              <a:solidFill>
                <a:srgbClr val="F1F5F9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71525" y="4199929"/>
            <a:ext cx="85725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Agricultural Intelligence First. Autonomous Forest Protection &amp; Sustainable Land Use for the next generation of landowners.</a:t>
            </a:r>
            <a:endParaRPr lang="en-US" sz="22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5"/>
        </a:solidFill>
        <a:effectLst/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77000" y="1871662"/>
            <a:ext cx="49434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71525" y="2590800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Farms and forests are dying together.</a:t>
            </a:r>
            <a:endParaRPr lang="en-US" sz="1650" b="1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71525" y="3114675"/>
            <a:ext cx="49434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Productive land is bordering threatened ecosystems. Current monitoring is reactive, dangerous, and arrives only after the fire or logger has left.</a:t>
            </a:r>
            <a:endParaRPr 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86525" y="1881187"/>
            <a:ext cx="49244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114425" y="4267200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•</a:t>
            </a:r>
            <a:endParaRPr 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152525" y="4267200"/>
            <a:ext cx="45624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Delayed fire detection destroys yields.</a:t>
            </a:r>
            <a:endParaRPr 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114425" y="4581525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•</a:t>
            </a:r>
            <a:endParaRPr 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152525" y="4581525"/>
            <a:ext cx="45624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Illegal logging encroaches on boundaries.</a:t>
            </a:r>
            <a:endParaRPr 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114425" y="4895850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•</a:t>
            </a:r>
            <a:endParaRPr 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152525" y="4895850"/>
            <a:ext cx="45624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Human patrols are high-risk and high-cost.</a:t>
            </a:r>
            <a:endParaRPr 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000125" y="581025"/>
            <a:ext cx="1094136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0B98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SILENT CRISIS</a:t>
            </a:r>
            <a:endParaRPr lang="en-US" sz="3300" b="1" i="0" u="none" strike="noStrike" cap="none">
              <a:solidFill>
                <a:srgbClr val="10B98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771525" y="581025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5"/>
        </a:solidFill>
        <a:effectLst/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1525" y="1871662"/>
            <a:ext cx="49434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1050" y="1881187"/>
            <a:ext cx="49244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6477000" y="2147887"/>
            <a:ext cx="519064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1F5F9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Agriculture First, Protection Always</a:t>
            </a:r>
            <a:endParaRPr lang="en-US" sz="1405" b="1" i="0" u="none" strike="noStrike" cap="none">
              <a:solidFill>
                <a:srgbClr val="F1F5F9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6477000" y="2557462"/>
            <a:ext cx="4943475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Frone AI turns remote land into data-rich environments. We deliver immediate ROI through crop health monitoring while the same sensors secure the forest perimeter.</a:t>
            </a:r>
            <a:endParaRPr 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6477000" y="4024312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• Crop Stress Identification</a:t>
            </a:r>
            <a:endParaRPr lang="en-US" sz="1650" b="0" i="0" u="none" strike="noStrike" cap="none">
              <a:solidFill>
                <a:srgbClr val="10B98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477000" y="4548187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• Autonomous Threat Verification</a:t>
            </a:r>
            <a:endParaRPr lang="en-US" sz="1650" b="0" i="0" u="none" strike="noStrike" cap="none">
              <a:solidFill>
                <a:srgbClr val="10B98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6477000" y="5072062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• Evidence-Based Escalation</a:t>
            </a:r>
            <a:endParaRPr lang="en-US" sz="1650" b="0" i="0" u="none" strike="noStrike" cap="none">
              <a:solidFill>
                <a:srgbClr val="10B98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000125" y="581025"/>
            <a:ext cx="1094136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0B98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ACTIONABLE INTELLIGENCE</a:t>
            </a:r>
            <a:endParaRPr lang="en-US" sz="3300" b="1" i="0" u="none" strike="noStrike" cap="none">
              <a:solidFill>
                <a:srgbClr val="10B98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771525" y="581025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5"/>
        </a:solidFill>
        <a:effectLst/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771525" y="2514600"/>
            <a:ext cx="519064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1F5F9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TACOS Technologies Partnership</a:t>
            </a:r>
            <a:endParaRPr lang="en-US" sz="1405" b="1" i="0" u="none" strike="noStrike" cap="none">
              <a:solidFill>
                <a:srgbClr val="F1F5F9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771525" y="2924175"/>
            <a:ext cx="49434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Strategic alliance with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Tactical Aerospace Command &amp; Operations Solutions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to manufacture our custom drone fleet.</a:t>
            </a:r>
            <a:endParaRPr 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771525" y="4076700"/>
            <a:ext cx="49434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Leveraging specialized aerospace engineering to build rugged, long-range autonomous drones that operate where satellites cannot see.</a:t>
            </a:r>
            <a:endParaRPr 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1000125" y="581025"/>
            <a:ext cx="1094136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0B98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REALIZING THE FLEET</a:t>
            </a:r>
            <a:endParaRPr lang="en-US" sz="3300" b="1" i="0" u="none" strike="noStrike" cap="none">
              <a:solidFill>
                <a:srgbClr val="10B98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771525" y="581025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29" name="Google Shape;129;p16" title="87d56435681a91d8565f8f29749a72e9.jp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228975" y="863563"/>
            <a:ext cx="3848152" cy="5130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5"/>
        </a:solidFill>
        <a:effectLst/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1525" y="2090737"/>
            <a:ext cx="3359050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416325" y="2090737"/>
            <a:ext cx="3359199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061275" y="2090737"/>
            <a:ext cx="335905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1066800" y="3281362"/>
            <a:ext cx="29069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1F5F9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Detect</a:t>
            </a:r>
            <a:endParaRPr lang="en-US" sz="1950" b="1" i="0" u="none" strike="noStrike" cap="none">
              <a:solidFill>
                <a:srgbClr val="F1F5F9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1066800" y="3795712"/>
            <a:ext cx="27685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Multi-sensor tree nodes capture audio, heat, and vibration. No single point of failure.</a:t>
            </a:r>
            <a:endParaRPr 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4711600" y="3281362"/>
            <a:ext cx="290708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1F5F9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Verify</a:t>
            </a:r>
            <a:endParaRPr lang="en-US" sz="1950" b="1" i="0" u="none" strike="noStrike" cap="none">
              <a:solidFill>
                <a:srgbClr val="F1F5F9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4711600" y="3795712"/>
            <a:ext cx="2768649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3+ sensors must agree. AI verifies data before dispatching autonomous drones.</a:t>
            </a:r>
            <a:endParaRPr 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8356550" y="3281362"/>
            <a:ext cx="29069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1F5F9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Report</a:t>
            </a:r>
            <a:endParaRPr lang="en-US" sz="1950" b="1" i="0" u="none" strike="noStrike" cap="none">
              <a:solidFill>
                <a:srgbClr val="F1F5F9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8356550" y="3795712"/>
            <a:ext cx="27685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Live GPS coordinates and visual evidence sent directly to authorities or rangers.</a:t>
            </a:r>
            <a:endParaRPr 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66800" y="2519362"/>
            <a:ext cx="4762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711600" y="251936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356550" y="2519362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1000125" y="581025"/>
            <a:ext cx="1094136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0B98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CONSENSUS-DRIVEN LOGIC</a:t>
            </a:r>
            <a:endParaRPr lang="en-US" sz="3300" b="1" i="0" u="none" strike="noStrike" cap="none">
              <a:solidFill>
                <a:srgbClr val="10B98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71525" y="581025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5"/>
        </a:solidFill>
        <a:effectLst/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1525" y="2538412"/>
            <a:ext cx="329565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448175" y="2538412"/>
            <a:ext cx="329565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124825" y="2538412"/>
            <a:ext cx="329565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1066800" y="3024187"/>
            <a:ext cx="270510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0" i="0" u="none" strike="noStrike" cap="none">
                <a:solidFill>
                  <a:srgbClr val="10B981"/>
                </a:solidFill>
                <a:latin typeface="Urbanist ExtraBold" panose="020B0A04040200000203"/>
                <a:ea typeface="Urbanist ExtraBold" panose="020B0A04040200000203"/>
                <a:cs typeface="Urbanist ExtraBold" panose="020B0A04040200000203"/>
                <a:sym typeface="Urbanist ExtraBold" panose="020B0A04040200000203"/>
              </a:rPr>
              <a:t>$12B</a:t>
            </a:r>
            <a:endParaRPr lang="en-US" sz="6300" b="0" i="0" u="none" strike="noStrike" cap="none">
              <a:solidFill>
                <a:srgbClr val="10B981"/>
              </a:solidFill>
              <a:latin typeface="Urbanist ExtraBold" panose="020B0A04040200000203"/>
              <a:ea typeface="Urbanist ExtraBold" panose="020B0A04040200000203"/>
              <a:cs typeface="Urbanist ExtraBold" panose="020B0A04040200000203"/>
              <a:sym typeface="Urbanist ExtraBold" panose="020B0A04040200000203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1066800" y="4195762"/>
            <a:ext cx="2705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Precision Agriculture</a:t>
            </a:r>
            <a:endParaRPr 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4743450" y="3024187"/>
            <a:ext cx="270510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0" i="0" u="none" strike="noStrike" cap="none">
                <a:solidFill>
                  <a:srgbClr val="10B981"/>
                </a:solidFill>
                <a:latin typeface="Urbanist ExtraBold" panose="020B0A04040200000203"/>
                <a:ea typeface="Urbanist ExtraBold" panose="020B0A04040200000203"/>
                <a:cs typeface="Urbanist ExtraBold" panose="020B0A04040200000203"/>
                <a:sym typeface="Urbanist ExtraBold" panose="020B0A04040200000203"/>
              </a:rPr>
              <a:t>$50B</a:t>
            </a:r>
            <a:endParaRPr lang="en-US" sz="6300" b="0" i="0" u="none" strike="noStrike" cap="none">
              <a:solidFill>
                <a:srgbClr val="10B981"/>
              </a:solidFill>
              <a:latin typeface="Urbanist ExtraBold" panose="020B0A04040200000203"/>
              <a:ea typeface="Urbanist ExtraBold" panose="020B0A04040200000203"/>
              <a:cs typeface="Urbanist ExtraBold" panose="020B0A04040200000203"/>
              <a:sym typeface="Urbanist ExtraBold" panose="020B0A04040200000203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4743450" y="4195762"/>
            <a:ext cx="2705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Carbon Credits</a:t>
            </a:r>
            <a:endParaRPr 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8420100" y="3024187"/>
            <a:ext cx="270510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0" i="0" u="none" strike="noStrike" cap="none">
                <a:solidFill>
                  <a:srgbClr val="10B981"/>
                </a:solidFill>
                <a:latin typeface="Urbanist ExtraBold" panose="020B0A04040200000203"/>
                <a:ea typeface="Urbanist ExtraBold" panose="020B0A04040200000203"/>
                <a:cs typeface="Urbanist ExtraBold" panose="020B0A04040200000203"/>
                <a:sym typeface="Urbanist ExtraBold" panose="020B0A04040200000203"/>
              </a:rPr>
              <a:t>30%</a:t>
            </a:r>
            <a:endParaRPr lang="en-US" sz="6300" b="0" i="0" u="none" strike="noStrike" cap="none">
              <a:solidFill>
                <a:srgbClr val="10B981"/>
              </a:solidFill>
              <a:latin typeface="Urbanist ExtraBold" panose="020B0A04040200000203"/>
              <a:ea typeface="Urbanist ExtraBold" panose="020B0A04040200000203"/>
              <a:cs typeface="Urbanist ExtraBold" panose="020B0A04040200000203"/>
              <a:sym typeface="Urbanist ExtraBold" panose="020B0A04040200000203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8420100" y="4195762"/>
            <a:ext cx="2705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Security Savings</a:t>
            </a:r>
            <a:endParaRPr 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1000125" y="581025"/>
            <a:ext cx="1094136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0B98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OPPORTUNITY</a:t>
            </a:r>
            <a:endParaRPr lang="en-US" sz="3300" b="1" i="0" u="none" strike="noStrike" cap="none">
              <a:solidFill>
                <a:srgbClr val="10B98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771525" y="581025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5"/>
        </a:solidFill>
        <a:effectLst/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1525" y="2805112"/>
            <a:ext cx="4943475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77000" y="2805112"/>
            <a:ext cx="4943475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1066800" y="3195637"/>
            <a:ext cx="457057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0B98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SaaS Layer</a:t>
            </a:r>
            <a:endParaRPr lang="en-US" sz="1950" b="1" i="0" u="none" strike="noStrike" cap="none">
              <a:solidFill>
                <a:srgbClr val="10B98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1066800" y="3709987"/>
            <a:ext cx="43529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Subscription-based agricultural intelligence for farm and forest managers.</a:t>
            </a:r>
            <a:endParaRPr 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6772275" y="3195637"/>
            <a:ext cx="457057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59E0B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Media Subsidy</a:t>
            </a:r>
            <a:endParaRPr lang="en-US" sz="1950" b="1" i="0" u="none" strike="noStrike" cap="none">
              <a:solidFill>
                <a:srgbClr val="F59E0B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6772275" y="3709987"/>
            <a:ext cx="43529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High-def data feeds sold to researchers and climate agencies to offset farmer costs.</a:t>
            </a:r>
            <a:endParaRPr 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1000125" y="581025"/>
            <a:ext cx="1094136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0B98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SUSTAINABLE REVENUE</a:t>
            </a:r>
            <a:endParaRPr lang="en-US" sz="3300" b="1" i="0" u="none" strike="noStrike" cap="none">
              <a:solidFill>
                <a:srgbClr val="10B98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771525" y="581025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5"/>
        </a:solidFill>
        <a:effectLst/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985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3" name="Google Shape;183;p20"/>
          <p:cNvGraphicFramePr/>
          <p:nvPr/>
        </p:nvGraphicFramePr>
        <p:xfrm>
          <a:off x="771525" y="2514600"/>
          <a:ext cx="10648950" cy="3000000"/>
        </p:xfrm>
        <a:graphic>
          <a:graphicData uri="http://schemas.openxmlformats.org/drawingml/2006/table">
            <a:tbl>
              <a:tblPr firstRow="1" bandRow="1">
                <a:noFill/>
                <a:tableStyleId>{CA8F9B43-D4EA-4FC5-801A-416FB36D5DA7}</a:tableStyleId>
              </a:tblPr>
              <a:tblGrid>
                <a:gridCol w="2796925"/>
                <a:gridCol w="2928050"/>
                <a:gridCol w="2622050"/>
                <a:gridCol w="2301925"/>
              </a:tblGrid>
              <a:tr h="67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0B98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Benchmark</a:t>
                      </a:r>
                      <a:endParaRPr lang="en-US" sz="1650" b="1" i="0" u="none" strike="noStrike" cap="none">
                        <a:solidFill>
                          <a:srgbClr val="10B98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0B98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Satellite</a:t>
                      </a:r>
                      <a:endParaRPr lang="en-US" sz="1650" b="1" i="0" u="none" strike="noStrike" cap="none">
                        <a:solidFill>
                          <a:srgbClr val="10B98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0B98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Human Patrol</a:t>
                      </a:r>
                      <a:endParaRPr lang="en-US" sz="1650" b="1" i="0" u="none" strike="noStrike" cap="none">
                        <a:solidFill>
                          <a:srgbClr val="10B98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0B98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Frone AI</a:t>
                      </a:r>
                      <a:endParaRPr lang="en-US" sz="1650" b="1" i="0" u="none" strike="noStrike" cap="none">
                        <a:solidFill>
                          <a:srgbClr val="10B98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1F5F9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Detection Speed</a:t>
                      </a:r>
                      <a:endParaRPr lang="en-US" sz="1500" b="0" i="0" u="none" strike="noStrike" cap="none">
                        <a:solidFill>
                          <a:srgbClr val="F1F5F9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1F5F9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24 - 48 Hours</a:t>
                      </a:r>
                      <a:endParaRPr lang="en-US" sz="1500" b="0" i="0" u="none" strike="noStrike" cap="none">
                        <a:solidFill>
                          <a:srgbClr val="F1F5F9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1F5F9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Variable</a:t>
                      </a:r>
                      <a:endParaRPr lang="en-US" sz="1500" b="0" i="0" u="none" strike="noStrike" cap="none">
                        <a:solidFill>
                          <a:srgbClr val="F1F5F9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0B98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Real-Time</a:t>
                      </a:r>
                      <a:endParaRPr lang="en-US" sz="1500" b="1" i="0" u="none" strike="noStrike" cap="none">
                        <a:solidFill>
                          <a:srgbClr val="10B98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1F5F9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Verification</a:t>
                      </a:r>
                      <a:endParaRPr lang="en-US" sz="1500" b="0" i="0" u="none" strike="noStrike" cap="none">
                        <a:solidFill>
                          <a:srgbClr val="F1F5F9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1F5F9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Low Res</a:t>
                      </a:r>
                      <a:endParaRPr lang="en-US" sz="1500" b="0" i="0" u="none" strike="noStrike" cap="none">
                        <a:solidFill>
                          <a:srgbClr val="F1F5F9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1F5F9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Dangerous</a:t>
                      </a:r>
                      <a:endParaRPr lang="en-US" sz="1500" b="0" i="0" u="none" strike="noStrike" cap="none">
                        <a:solidFill>
                          <a:srgbClr val="F1F5F9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0B98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Visual Drone</a:t>
                      </a:r>
                      <a:endParaRPr lang="en-US" sz="1500" b="1" i="0" u="none" strike="noStrike" cap="none">
                        <a:solidFill>
                          <a:srgbClr val="10B98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1F5F9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Visibility</a:t>
                      </a:r>
                      <a:endParaRPr lang="en-US" sz="1500" b="0" i="0" u="none" strike="noStrike" cap="none">
                        <a:solidFill>
                          <a:srgbClr val="F1F5F9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1F5F9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Above Cloud Only</a:t>
                      </a:r>
                      <a:endParaRPr lang="en-US" sz="1500" b="0" i="0" u="none" strike="noStrike" cap="none">
                        <a:solidFill>
                          <a:srgbClr val="F1F5F9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1F5F9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Limited</a:t>
                      </a:r>
                      <a:endParaRPr lang="en-US" sz="1500" b="0" i="0" u="none" strike="noStrike" cap="none">
                        <a:solidFill>
                          <a:srgbClr val="F1F5F9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0B98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Sub-Canopy</a:t>
                      </a:r>
                      <a:endParaRPr lang="en-US" sz="1500" b="1" i="0" u="none" strike="noStrike" cap="none">
                        <a:solidFill>
                          <a:srgbClr val="10B98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184" name="Google Shape;184;p20"/>
          <p:cNvSpPr/>
          <p:nvPr/>
        </p:nvSpPr>
        <p:spPr>
          <a:xfrm>
            <a:off x="771525" y="3214687"/>
            <a:ext cx="2796926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3568451" y="3214687"/>
            <a:ext cx="2928044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6496496" y="3214687"/>
            <a:ext cx="2622053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9118550" y="3214687"/>
            <a:ext cx="2301924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771525" y="3900487"/>
            <a:ext cx="279692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3568451" y="3900487"/>
            <a:ext cx="292804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6496496" y="3900487"/>
            <a:ext cx="262205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9118550" y="3900487"/>
            <a:ext cx="230192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771525" y="4557712"/>
            <a:ext cx="279692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3568451" y="4557712"/>
            <a:ext cx="292804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6496496" y="4557712"/>
            <a:ext cx="262205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9118550" y="4557712"/>
            <a:ext cx="230192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771525" y="5214937"/>
            <a:ext cx="279692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3568451" y="5214937"/>
            <a:ext cx="292804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6496496" y="5214937"/>
            <a:ext cx="262205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9118550" y="5214937"/>
            <a:ext cx="230192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1000125" y="581025"/>
            <a:ext cx="1094136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0B98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STRATEGIC ADVANTAGE</a:t>
            </a:r>
            <a:endParaRPr lang="en-US" sz="3300" b="1" i="0" u="none" strike="noStrike" cap="none">
              <a:solidFill>
                <a:srgbClr val="10B98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771525" y="581025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5"/>
        </a:solidFill>
        <a:effectLst/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576387" y="2205037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title="WhatsApp Image 2026-02-05 at 22.00.54.jpeg"/>
          <p:cNvPicPr preferRelativeResize="0"/>
          <p:nvPr/>
        </p:nvPicPr>
        <p:blipFill rotWithShape="1">
          <a:blip r:embed="rId3"/>
          <a:srcRect l="6323" r="6332"/>
          <a:stretch>
            <a:fillRect/>
          </a:stretch>
        </p:blipFill>
        <p:spPr>
          <a:xfrm>
            <a:off x="1585912" y="2214562"/>
            <a:ext cx="33147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6477000" y="2400300"/>
            <a:ext cx="519064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1F5F9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Ian Mwaniki Kanyi</a:t>
            </a:r>
            <a:endParaRPr lang="en-US" sz="1405" b="1" i="0" u="none" strike="noStrike" cap="none">
              <a:solidFill>
                <a:srgbClr val="F1F5F9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477000" y="2828925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CEO &amp; Founder</a:t>
            </a:r>
            <a:endParaRPr lang="en-US" sz="1650" b="0" i="0" u="none" strike="noStrike" cap="none">
              <a:solidFill>
                <a:srgbClr val="10B98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6477000" y="3352800"/>
            <a:ext cx="49434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"Technology should serve people and the planet, not just profit."</a:t>
            </a:r>
            <a:endParaRPr lang="en-US" sz="1650" b="0" i="1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6477000" y="4191000"/>
            <a:ext cx="49434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Blending technical expertise with a lifelong commitment to Kenyan reforestation and sustainable land stewardship.</a:t>
            </a:r>
            <a:endParaRPr 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1000125" y="581025"/>
            <a:ext cx="1094136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0B98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VISIONARY</a:t>
            </a:r>
            <a:endParaRPr lang="en-US" sz="3300" b="1" i="0" u="none" strike="noStrike" cap="none">
              <a:solidFill>
                <a:srgbClr val="10B98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771525" y="581025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5"/>
        </a:solidFill>
        <a:effectLst/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1525" y="3529012"/>
            <a:ext cx="106489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1525" y="4214812"/>
            <a:ext cx="106489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438525" y="3529012"/>
            <a:ext cx="79819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438525" y="4214812"/>
            <a:ext cx="79819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438525" y="3529012"/>
            <a:ext cx="5986462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438525" y="4214812"/>
            <a:ext cx="478914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71525" y="1466850"/>
            <a:ext cx="1064895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771525" y="3643312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Deforestation Incidents</a:t>
            </a:r>
            <a:endParaRPr lang="en-US" sz="1500" b="0" i="0" u="none" strike="noStrike" cap="none">
              <a:solidFill>
                <a:srgbClr val="F1F5F9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771525" y="4329112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Monitoring OpEx</a:t>
            </a:r>
            <a:endParaRPr lang="en-US" sz="1500" b="0" i="0" u="none" strike="noStrike" cap="none">
              <a:solidFill>
                <a:srgbClr val="F1F5F9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1000125" y="581025"/>
            <a:ext cx="1094136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0B98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PROJECTED IMPACT</a:t>
            </a:r>
            <a:endParaRPr lang="en-US" sz="3300" b="1" i="0" u="none" strike="noStrike" cap="none">
              <a:solidFill>
                <a:srgbClr val="10B98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771525" y="581025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5"/>
        </a:solidFill>
        <a:effectLst/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1525" y="3895129"/>
            <a:ext cx="10648950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1162050" y="4495204"/>
            <a:ext cx="98679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Ian Mwaniki Kanyi</a:t>
            </a:r>
            <a:endParaRPr lang="en-US" sz="1650" b="1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1162050" y="5019079"/>
            <a:ext cx="98679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gioianaturals@gmail.com</a:t>
            </a:r>
            <a:endParaRPr lang="en-US" sz="13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1162050" y="5447704"/>
            <a:ext cx="98679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Nairobi, Kenya</a:t>
            </a:r>
            <a:endParaRPr lang="en-US" sz="13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240" name="Google Shape;240;p23" title="logo.png"/>
          <p:cNvPicPr preferRelativeResize="0"/>
          <p:nvPr/>
        </p:nvPicPr>
        <p:blipFill rotWithShape="1">
          <a:blip r:embed="rId3"/>
          <a:srcRect t="8644" b="8635"/>
          <a:stretch>
            <a:fillRect/>
          </a:stretch>
        </p:blipFill>
        <p:spPr>
          <a:xfrm>
            <a:off x="5334000" y="590996"/>
            <a:ext cx="1523999" cy="114195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505301" y="2018704"/>
            <a:ext cx="11181397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1F5F9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Join the Mission</a:t>
            </a:r>
            <a:endParaRPr lang="en-US" sz="6000" b="1" i="0" u="none" strike="noStrike" cap="none">
              <a:solidFill>
                <a:srgbClr val="F1F5F9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2914650" y="3085504"/>
            <a:ext cx="63627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Secure the farm. Protect the forest. Build the future.</a:t>
            </a:r>
            <a:endParaRPr lang="en-US" sz="22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5"/>
        </a:solidFill>
        <a:effectLst/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/>
          <p:nvPr/>
        </p:nvSpPr>
        <p:spPr>
          <a:xfrm>
            <a:off x="771525" y="2162175"/>
            <a:ext cx="10648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771525" y="2933700"/>
            <a:ext cx="106489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771525" y="3876675"/>
            <a:ext cx="10648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771525" y="2924175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771525" y="2232660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771525" y="3867150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771525" y="3175635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771525" y="3947160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60" name="Google Shape;260;p2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1525" y="24707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 txBox="1"/>
          <p:nvPr/>
        </p:nvSpPr>
        <p:spPr>
          <a:xfrm>
            <a:off x="1866900" y="2385060"/>
            <a:ext cx="95535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https://yale-threesixty.transforms.svdcdn.com/production/Cambodia-Burning-Sean-Gallagher-1_web.jpg?w=1500&amp;h=1500&amp;q=80&amp;auto=format&amp;fit=clip&amp;dm=1740244562&amp;s=7ae192b41d1c38fe892398f54055df0b</a:t>
            </a:r>
            <a:endParaRPr lang="en-US" sz="975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62" name="Google Shape;262;p24"/>
          <p:cNvSpPr txBox="1"/>
          <p:nvPr/>
        </p:nvSpPr>
        <p:spPr>
          <a:xfrm>
            <a:off x="1866900" y="2804160"/>
            <a:ext cx="9553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e360.yale.edu</a:t>
            </a:r>
            <a:endParaRPr lang="en-US" sz="1200" b="0" i="0" u="none" strike="noStrike" cap="none">
              <a:solidFill>
                <a:srgbClr val="4F46E5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263" name="Google Shape;263;p2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71525" y="332803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1866900" y="3335178"/>
            <a:ext cx="9553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https://aumovio.scene7.com/is/image/aumovio/25166-AUMES-MVP_GEN2-future?qlt=95&amp;wid=1040</a:t>
            </a:r>
            <a:endParaRPr lang="en-US" sz="975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65" name="Google Shape;265;p24"/>
          <p:cNvSpPr txBox="1"/>
          <p:nvPr/>
        </p:nvSpPr>
        <p:spPr>
          <a:xfrm>
            <a:off x="1866900" y="3568541"/>
            <a:ext cx="9553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www.aumovio.com</a:t>
            </a:r>
            <a:endParaRPr lang="en-US" sz="1200" b="0" i="0" u="none" strike="noStrike" cap="none">
              <a:solidFill>
                <a:srgbClr val="4F46E5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1000125" y="581025"/>
            <a:ext cx="1094136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0B98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IMAGE SOURCES</a:t>
            </a:r>
            <a:endParaRPr lang="en-US" sz="3300" b="1" i="0" u="none" strike="noStrike" cap="none">
              <a:solidFill>
                <a:srgbClr val="10B98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771525" y="581025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2543</Words>
  <Application>WPS Presentation</Application>
  <PresentationFormat/>
  <Paragraphs>150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Urbanist</vt:lpstr>
      <vt:lpstr>Urbanist ExtraBold</vt:lpstr>
      <vt:lpstr>Urbanist SemiBold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T5M</cp:lastModifiedBy>
  <cp:revision>1</cp:revision>
  <dcterms:created xsi:type="dcterms:W3CDTF">2026-02-23T20:03:19Z</dcterms:created>
  <dcterms:modified xsi:type="dcterms:W3CDTF">2026-02-23T20:03:21Z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191BB399B83F4836A8C0F3E4F041E48F_12</vt:lpwstr>
  </property>
  <property fmtid="{D5CDD505-2E9C-101B-9397-08002B2CF9AE}" pid="3" name="KSOProductBuildVer">
    <vt:lpwstr>1033-12.2.0.23196</vt:lpwstr>
  </property>
</Properties>
</file>